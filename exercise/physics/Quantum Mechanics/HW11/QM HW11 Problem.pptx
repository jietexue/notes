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8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3B7E9-1863-9845-5196-FBE211B29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481D39-9BA6-83D7-B441-7E5BAA669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057148-FB6F-B0E8-8816-770C8593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88352-A14B-927A-B897-FE962E1E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025A1-1B67-A8F4-A8EF-03C26560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7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25A18-4AC6-34BC-5887-09DE9463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2C059-3686-1833-8866-0F7243B46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E1FBAD-883B-B3C6-D45F-B5D1561D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8E2C3-833F-12F0-8142-23C3FD16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751618-08CB-0B98-65AD-B8A4FA772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183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B498D-A47F-FF9B-96B1-1A0D0DBF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55CDE-EC0F-1656-86BD-35A6C369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60A06-547C-7349-AD94-BB624566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BAB14-C2D8-1694-5E30-B7DFD680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C3E4D-17C9-FDA2-8D82-6DD89E27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4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EFB7E-3393-8BB2-3B47-84463C9E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D22A91-8C59-C1D4-C32A-EFA9997A1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F8AFB5-7E4F-3A3F-597A-6F20C28D5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CA2AF-8279-DBA8-3F8D-0078E29B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BA5996-A0B0-EB5C-812C-871B297F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B3C36C-A64C-BEF4-2324-6194B16F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92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1B2FB-27B1-3897-3DB1-4B17405F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67BDE5-3137-5FAB-6223-A35585DF6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923EEF-55C7-A3F8-33F2-6C7C8ABC7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F5557A-EEEE-152F-6E1C-3D7E0EF78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712C5A-93FC-DC39-E81A-DFC73357C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B42694-1343-0B06-FEBA-E4843299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DD535C-B43E-14CF-80CD-F7150910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8BC09F-7E93-3104-2FEC-0D21FF80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11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6A906-0218-FF71-8BAE-3BE094A1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A2EBD3-3426-0F2F-0B6E-6E8BCB25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663FD4-B30F-D336-4A5B-5EC69B30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816F33-71C6-FB14-7F19-B7136A3C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94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6420CC-2CF8-33EF-3251-DD36FCEE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DE7708-5B5B-534F-7E37-44668D92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0D5DDE-EFB5-0DC0-E653-B7628444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01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10595-4CDA-045E-3148-948F47CA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DFF137-2CB2-66B6-BC77-D602EB834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4FF73B-B843-8F9D-0049-A7F4C7923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B88D2C-125C-DA13-69FC-E3B13291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2A52BC-6599-5547-8326-5C93F6466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4E4291-1B84-0CD8-3C93-BFE5573C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08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77771-F65A-7D27-C9BA-B7B8EEF3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830B24-D745-1EFD-1EB5-89FF64ECF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42AE51-1205-AA10-A03C-C171E33F4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836B94-7D0D-D803-E8CE-8E131D1D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F0BB0-2782-93AC-05A2-2889C341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877B86-0261-07B0-C0B4-7462890A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81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2F58D-EA9B-6950-6AA2-7289170F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E93A2D-DC61-6648-4D7C-5995196B3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084B6F-EBF9-CBE3-62B0-6E857D38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1AC98-219A-BCF7-AB65-B57F2134A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8C8AE-A882-8D19-CF0A-D8099812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5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84F21F-D5E9-0855-2E03-24F181374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BB1CC9-F1E1-6DED-C042-803C140B6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ED38D-4B26-BAA8-3A3D-4A8DFD50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EC273A-34CC-4630-D07B-9016EF33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6C876-FE6A-475C-DC0E-82919955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36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C5D25F-7F28-6863-DE83-B56FAB41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C30E11-C715-02B0-7AA3-7F1E942C7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C559BD-C360-7D4F-F395-C4E090887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B69F6-FCCE-43A1-9D44-A4D2D68C536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607680-66AA-5B59-B453-0E7620B06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5C5605-13ED-A698-A10B-71A523EAF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8693D-725C-49E2-B42E-BEF7FA11C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74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D2EF4002-81F8-CD99-73AA-989628156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646" y="2458027"/>
            <a:ext cx="6780707" cy="1744519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46E28B7D-4B23-E65A-1DF2-8FE4D09F140B}"/>
              </a:ext>
            </a:extLst>
          </p:cNvPr>
          <p:cNvSpPr txBox="1">
            <a:spLocks/>
          </p:cNvSpPr>
          <p:nvPr/>
        </p:nvSpPr>
        <p:spPr>
          <a:xfrm>
            <a:off x="1930400" y="697635"/>
            <a:ext cx="8220364" cy="5723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Quantum Mechanics HW 11 due Dec 23 in class </a:t>
            </a:r>
            <a:endParaRPr lang="zh-CN" altLang="en-US" sz="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6C4A835-B5E1-D901-42E1-C85902340178}"/>
              </a:ext>
            </a:extLst>
          </p:cNvPr>
          <p:cNvSpPr txBox="1">
            <a:spLocks/>
          </p:cNvSpPr>
          <p:nvPr/>
        </p:nvSpPr>
        <p:spPr>
          <a:xfrm>
            <a:off x="1002145" y="1762559"/>
            <a:ext cx="7379854" cy="4473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1</a:t>
            </a:r>
            <a:endParaRPr lang="zh-CN" altLang="en-US" sz="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1E1B00B-7FE3-3FA8-71BC-028F48CD86DC}"/>
              </a:ext>
            </a:extLst>
          </p:cNvPr>
          <p:cNvSpPr txBox="1">
            <a:spLocks/>
          </p:cNvSpPr>
          <p:nvPr/>
        </p:nvSpPr>
        <p:spPr>
          <a:xfrm>
            <a:off x="1163781" y="4768995"/>
            <a:ext cx="10021456" cy="14747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2: Read lecture notes, and redo the propagator G(xb, t; xa ta) in free space by using the method of path integral and show that you will arrive at the same results as in problem 1.  </a:t>
            </a:r>
            <a:endParaRPr lang="zh-CN" altLang="en-US" sz="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30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3AE9-6EBB-A35B-704B-26132F62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E36EB51F-E86B-F45A-6290-D532A1BFC02E}"/>
              </a:ext>
            </a:extLst>
          </p:cNvPr>
          <p:cNvSpPr txBox="1">
            <a:spLocks/>
          </p:cNvSpPr>
          <p:nvPr/>
        </p:nvSpPr>
        <p:spPr>
          <a:xfrm>
            <a:off x="1930400" y="697635"/>
            <a:ext cx="8220364" cy="6231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Quantum Mechanics HW 11 </a:t>
            </a:r>
            <a:endParaRPr lang="zh-CN" altLang="en-US" sz="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>
                <a:extLst>
                  <a:ext uri="{FF2B5EF4-FFF2-40B4-BE49-F238E27FC236}">
                    <a16:creationId xmlns:a16="http://schemas.microsoft.com/office/drawing/2014/main" id="{F73D81AE-5CDE-36C6-5EF3-93C9EE640D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8327" y="1921164"/>
                <a:ext cx="10386292" cy="308494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lnSpcReduction="10000"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altLang="zh-CN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Problem 3:  Quantum statistical partition function can be represented by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𝑍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𝑡𝑟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𝛽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.</m:t>
                    </m:r>
                  </m:oMath>
                </a14:m>
                <a:r>
                  <a:rPr lang="en-US" altLang="zh-CN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It can be represented in the coordinate representation as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𝑍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=∫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𝑑𝑥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;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altLang="zh-CN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altLang="zh-CN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is the imaginary time propagator defined as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ahoma" panose="020B060403050404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ahoma" panose="020B0604030504040204" pitchFamily="34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ahoma" panose="020B060403050404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ahoma" panose="020B0604030504040204" pitchFamily="34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;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=⟨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𝑏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|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𝛽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𝐻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|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𝑎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⟩</m:t>
                    </m:r>
                  </m:oMath>
                </a14:m>
                <a:r>
                  <a:rPr lang="en-US" altLang="zh-CN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. Please use the path integral method to represent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𝑍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CN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. (You can read the lecture note)</a:t>
                </a:r>
              </a:p>
              <a:p>
                <a:pPr algn="just"/>
                <a:endParaRPr lang="en-US" altLang="zh-CN" sz="2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r>
                  <a:rPr lang="zh-CN" altLang="en-US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8" name="标题 1">
                <a:extLst>
                  <a:ext uri="{FF2B5EF4-FFF2-40B4-BE49-F238E27FC236}">
                    <a16:creationId xmlns:a16="http://schemas.microsoft.com/office/drawing/2014/main" id="{F73D81AE-5CDE-36C6-5EF3-93C9EE64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27" y="1921164"/>
                <a:ext cx="10386292" cy="3084945"/>
              </a:xfrm>
              <a:prstGeom prst="rect">
                <a:avLst/>
              </a:prstGeom>
              <a:blipFill>
                <a:blip r:embed="rId2"/>
                <a:stretch>
                  <a:fillRect l="-1232" r="-1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98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C056-7429-AEAE-DB03-8929F393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2669CC01-EBEC-6887-DBFB-8910AB2FC338}"/>
              </a:ext>
            </a:extLst>
          </p:cNvPr>
          <p:cNvSpPr txBox="1">
            <a:spLocks/>
          </p:cNvSpPr>
          <p:nvPr/>
        </p:nvSpPr>
        <p:spPr>
          <a:xfrm>
            <a:off x="1930400" y="697635"/>
            <a:ext cx="8220364" cy="6231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Quantum Mechanics HW 11 </a:t>
            </a:r>
            <a:endParaRPr lang="zh-CN" altLang="en-US" sz="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>
                <a:extLst>
                  <a:ext uri="{FF2B5EF4-FFF2-40B4-BE49-F238E27FC236}">
                    <a16:creationId xmlns:a16="http://schemas.microsoft.com/office/drawing/2014/main" id="{28F1DE5D-F0DD-CF00-95F4-80D30D49FD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8327" y="1921164"/>
                <a:ext cx="9878291" cy="308494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altLang="zh-CN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Problem 4:   Study the Berry phase problem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𝐻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𝐵</m:t>
                    </m:r>
                    <m:acc>
                      <m:accPr>
                        <m:chr m:val="̂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𝒏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⋅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𝑺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.</m:t>
                    </m:r>
                  </m:oMath>
                </a14:m>
                <a:r>
                  <a:rPr lang="en-US" altLang="zh-CN" sz="2800" b="1" dirty="0"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altLang="zh-CN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Now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𝑺</m:t>
                    </m:r>
                  </m:oMath>
                </a14:m>
                <a:r>
                  <a:rPr lang="en-US" altLang="zh-CN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 is the spin-1 operators. Please write down the matrices of S and calculate the Berry connection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𝒏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altLang="zh-CN" sz="2800" b="1" dirty="0"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altLang="zh-CN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𝒏</m:t>
                        </m:r>
                      </m:e>
                    </m:acc>
                  </m:oMath>
                </a14:m>
                <a:r>
                  <a:rPr lang="en-US" altLang="zh-CN" sz="2800" b="1" dirty="0"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altLang="zh-CN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varying over the unit sphere.  Please also calculate the monopole charge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∇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×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⋅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ahoma" panose="020B0604030504040204" pitchFamily="34" charset="0"/>
                          </a:rPr>
                          <m:t>𝑑𝑠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.</m:t>
                    </m:r>
                  </m:oMath>
                </a14:m>
                <a:endParaRPr lang="en-US" altLang="zh-CN" sz="2800" b="1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endParaRPr lang="en-US" altLang="zh-CN" sz="28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r>
                  <a:rPr lang="zh-CN" altLang="en-US" sz="2800" dirty="0">
                    <a:latin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8" name="标题 1">
                <a:extLst>
                  <a:ext uri="{FF2B5EF4-FFF2-40B4-BE49-F238E27FC236}">
                    <a16:creationId xmlns:a16="http://schemas.microsoft.com/office/drawing/2014/main" id="{28F1DE5D-F0DD-CF00-95F4-80D30D49F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27" y="1921164"/>
                <a:ext cx="9878291" cy="3084945"/>
              </a:xfrm>
              <a:prstGeom prst="rect">
                <a:avLst/>
              </a:prstGeom>
              <a:blipFill>
                <a:blip r:embed="rId2"/>
                <a:stretch>
                  <a:fillRect l="-1296" r="-2407" b="-5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55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194</Words>
  <Application>Microsoft Office PowerPoint</Application>
  <PresentationFormat>宽屏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Cambria Math</vt:lpstr>
      <vt:lpstr>Tahoma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Congjun WU 吴从军</dc:creator>
  <cp:lastModifiedBy>Congjun WU 吴从军</cp:lastModifiedBy>
  <cp:revision>9</cp:revision>
  <dcterms:created xsi:type="dcterms:W3CDTF">2025-12-12T08:01:35Z</dcterms:created>
  <dcterms:modified xsi:type="dcterms:W3CDTF">2025-12-12T08:30:19Z</dcterms:modified>
</cp:coreProperties>
</file>